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ba0ca5cd59470c" /><Relationship Type="http://schemas.openxmlformats.org/officeDocument/2006/relationships/extended-properties" Target="/docProps/app.xml" Id="R6c1eb14fa7bc4a82" /><Relationship Type="http://schemas.openxmlformats.org/officeDocument/2006/relationships/officeDocument" Target="/ppt/presentation.xml" Id="Rf2f2b095a07643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8f5e1ee07a4346"/>
  </p:sldMasterIdLst>
  <p:notesMasterIdLst>
    <p:notesMasterId xmlns:r="http://schemas.openxmlformats.org/officeDocument/2006/relationships" r:id="R38ed297a2e344862"/>
  </p:notesMasterIdLst>
  <p:sldIdLst>
    <p:sldId xmlns:r="http://schemas.openxmlformats.org/officeDocument/2006/relationships" id="256" r:id="Rb9bc5cdc500047c4"/>
    <p:sldId xmlns:r="http://schemas.openxmlformats.org/officeDocument/2006/relationships" id="257" r:id="Rfd3e4a6367ed4653"/>
    <p:sldId xmlns:r="http://schemas.openxmlformats.org/officeDocument/2006/relationships" id="258" r:id="R7447b0f70849449a"/>
    <p:sldId xmlns:r="http://schemas.openxmlformats.org/officeDocument/2006/relationships" id="259" r:id="R75f01d3a9c114216"/>
    <p:sldId xmlns:r="http://schemas.openxmlformats.org/officeDocument/2006/relationships" id="260" r:id="R0fbbed3d66324f05"/>
    <p:sldId xmlns:r="http://schemas.openxmlformats.org/officeDocument/2006/relationships" id="261" r:id="R8513693bd0ab4efe"/>
    <p:sldId xmlns:r="http://schemas.openxmlformats.org/officeDocument/2006/relationships" id="262" r:id="R4dcdf1d03f21467f"/>
    <p:sldId xmlns:r="http://schemas.openxmlformats.org/officeDocument/2006/relationships" id="263" r:id="R90f98746785249ce"/>
    <p:sldId xmlns:r="http://schemas.openxmlformats.org/officeDocument/2006/relationships" id="264" r:id="Re87da329661e493b"/>
    <p:sldId xmlns:r="http://schemas.openxmlformats.org/officeDocument/2006/relationships" id="265" r:id="R5f7d0eb309c24e1c"/>
    <p:sldId xmlns:r="http://schemas.openxmlformats.org/officeDocument/2006/relationships" id="266" r:id="R33f82d8f548449d6"/>
    <p:sldId xmlns:r="http://schemas.openxmlformats.org/officeDocument/2006/relationships" id="267" r:id="Rb722f82020454e60"/>
    <p:sldId xmlns:r="http://schemas.openxmlformats.org/officeDocument/2006/relationships" id="268" r:id="R308c76b268f344e7"/>
    <p:sldId xmlns:r="http://schemas.openxmlformats.org/officeDocument/2006/relationships" id="269" r:id="Rc4fd41700ab74fcf"/>
    <p:sldId xmlns:r="http://schemas.openxmlformats.org/officeDocument/2006/relationships" id="270" r:id="Rc76d57c039924b0d"/>
    <p:sldId xmlns:r="http://schemas.openxmlformats.org/officeDocument/2006/relationships" id="271" r:id="R5a6d30ab88ef4064"/>
    <p:sldId xmlns:r="http://schemas.openxmlformats.org/officeDocument/2006/relationships" id="272" r:id="R9848cc498c694d8b"/>
    <p:sldId xmlns:r="http://schemas.openxmlformats.org/officeDocument/2006/relationships" id="273" r:id="R284c42bcc7594bb8"/>
    <p:sldId xmlns:r="http://schemas.openxmlformats.org/officeDocument/2006/relationships" id="274" r:id="Rbe0aad8d77fe4edd"/>
    <p:sldId xmlns:r="http://schemas.openxmlformats.org/officeDocument/2006/relationships" id="275" r:id="R05f3402328244d79"/>
    <p:sldId xmlns:r="http://schemas.openxmlformats.org/officeDocument/2006/relationships" id="276" r:id="R28c420a23b65498b"/>
    <p:sldId xmlns:r="http://schemas.openxmlformats.org/officeDocument/2006/relationships" id="277" r:id="Rfaf154e85c0e489a"/>
    <p:sldId xmlns:r="http://schemas.openxmlformats.org/officeDocument/2006/relationships" id="278" r:id="R2450964524d14ff5"/>
    <p:sldId xmlns:r="http://schemas.openxmlformats.org/officeDocument/2006/relationships" id="279" r:id="R6f0571e4a95d4f49"/>
    <p:sldId xmlns:r="http://schemas.openxmlformats.org/officeDocument/2006/relationships" id="280" r:id="Rc46a14d6dad1480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f5e1ee07a4346" /><Relationship Type="http://schemas.openxmlformats.org/officeDocument/2006/relationships/theme" Target="/ppt/theme/theme1.xml" Id="R4f2106bfcb7f447a" /><Relationship Type="http://schemas.openxmlformats.org/officeDocument/2006/relationships/notesMaster" Target="/ppt/notesMasters/notesMaster1.xml" Id="R38ed297a2e344862" /><Relationship Type="http://schemas.openxmlformats.org/officeDocument/2006/relationships/presProps" Target="/ppt/presProps.xml" Id="Rf1c645c1ab0345e2" /><Relationship Type="http://schemas.openxmlformats.org/officeDocument/2006/relationships/viewProps" Target="/ppt/viewProps.xml" Id="R0e7f1f6d42ab44a4" /><Relationship Type="http://schemas.openxmlformats.org/officeDocument/2006/relationships/tableStyles" Target="/ppt/tableStyles.xml" Id="Rf82a028f388949e2" /><Relationship Type="http://schemas.openxmlformats.org/officeDocument/2006/relationships/slide" Target="/ppt/slides/slide1.xml" Id="Rb9bc5cdc500047c4" /><Relationship Type="http://schemas.openxmlformats.org/officeDocument/2006/relationships/slide" Target="/ppt/slides/slide2.xml" Id="Rfd3e4a6367ed4653" /><Relationship Type="http://schemas.openxmlformats.org/officeDocument/2006/relationships/slide" Target="/ppt/slides/slide3.xml" Id="R7447b0f70849449a" /><Relationship Type="http://schemas.openxmlformats.org/officeDocument/2006/relationships/slide" Target="/ppt/slides/slide4.xml" Id="R75f01d3a9c114216" /><Relationship Type="http://schemas.openxmlformats.org/officeDocument/2006/relationships/slide" Target="/ppt/slides/slide5.xml" Id="R0fbbed3d66324f05" /><Relationship Type="http://schemas.openxmlformats.org/officeDocument/2006/relationships/slide" Target="/ppt/slides/slide6.xml" Id="R8513693bd0ab4efe" /><Relationship Type="http://schemas.openxmlformats.org/officeDocument/2006/relationships/slide" Target="/ppt/slides/slide7.xml" Id="R4dcdf1d03f21467f" /><Relationship Type="http://schemas.openxmlformats.org/officeDocument/2006/relationships/slide" Target="/ppt/slides/slide8.xml" Id="R90f98746785249ce" /><Relationship Type="http://schemas.openxmlformats.org/officeDocument/2006/relationships/slide" Target="/ppt/slides/slide9.xml" Id="Re87da329661e493b" /><Relationship Type="http://schemas.openxmlformats.org/officeDocument/2006/relationships/slide" Target="/ppt/slides/slide10.xml" Id="R5f7d0eb309c24e1c" /><Relationship Type="http://schemas.openxmlformats.org/officeDocument/2006/relationships/slide" Target="/ppt/slides/slide11.xml" Id="R33f82d8f548449d6" /><Relationship Type="http://schemas.openxmlformats.org/officeDocument/2006/relationships/slide" Target="/ppt/slides/slide12.xml" Id="Rb722f82020454e60" /><Relationship Type="http://schemas.openxmlformats.org/officeDocument/2006/relationships/slide" Target="/ppt/slides/slide13.xml" Id="R308c76b268f344e7" /><Relationship Type="http://schemas.openxmlformats.org/officeDocument/2006/relationships/slide" Target="/ppt/slides/slide14.xml" Id="Rc4fd41700ab74fcf" /><Relationship Type="http://schemas.openxmlformats.org/officeDocument/2006/relationships/slide" Target="/ppt/slides/slide15.xml" Id="Rc76d57c039924b0d" /><Relationship Type="http://schemas.openxmlformats.org/officeDocument/2006/relationships/slide" Target="/ppt/slides/slide16.xml" Id="R5a6d30ab88ef4064" /><Relationship Type="http://schemas.openxmlformats.org/officeDocument/2006/relationships/slide" Target="/ppt/slides/slide17.xml" Id="R9848cc498c694d8b" /><Relationship Type="http://schemas.openxmlformats.org/officeDocument/2006/relationships/slide" Target="/ppt/slides/slide18.xml" Id="R284c42bcc7594bb8" /><Relationship Type="http://schemas.openxmlformats.org/officeDocument/2006/relationships/slide" Target="/ppt/slides/slide19.xml" Id="Rbe0aad8d77fe4edd" /><Relationship Type="http://schemas.openxmlformats.org/officeDocument/2006/relationships/slide" Target="/ppt/slides/slide20.xml" Id="R05f3402328244d79" /><Relationship Type="http://schemas.openxmlformats.org/officeDocument/2006/relationships/slide" Target="/ppt/slides/slide21.xml" Id="R28c420a23b65498b" /><Relationship Type="http://schemas.openxmlformats.org/officeDocument/2006/relationships/slide" Target="/ppt/slides/slide22.xml" Id="Rfaf154e85c0e489a" /><Relationship Type="http://schemas.openxmlformats.org/officeDocument/2006/relationships/slide" Target="/ppt/slides/slide23.xml" Id="R2450964524d14ff5" /><Relationship Type="http://schemas.openxmlformats.org/officeDocument/2006/relationships/slide" Target="/ppt/slides/slide24.xml" Id="R6f0571e4a95d4f49" /><Relationship Type="http://schemas.openxmlformats.org/officeDocument/2006/relationships/slide" Target="/ppt/slides/slide25.xml" Id="Rc46a14d6dad148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0462d6b444447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7f4f27235f448b" /><Relationship Type="http://schemas.openxmlformats.org/officeDocument/2006/relationships/notesMaster" Target="/ppt/notesMasters/notesMaster1.xml" Id="Re54386eb1b74434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885099951f4221" /><Relationship Type="http://schemas.openxmlformats.org/officeDocument/2006/relationships/notesMaster" Target="/ppt/notesMasters/notesMaster1.xml" Id="Ref98ef65d6094d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3ba58842c840a1" /><Relationship Type="http://schemas.openxmlformats.org/officeDocument/2006/relationships/notesMaster" Target="/ppt/notesMasters/notesMaster1.xml" Id="Red75d70bd91f41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3c6dc10cb64c03" /><Relationship Type="http://schemas.openxmlformats.org/officeDocument/2006/relationships/notesMaster" Target="/ppt/notesMasters/notesMaster1.xml" Id="R97ae128d1f0a49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c327f070884237" /><Relationship Type="http://schemas.openxmlformats.org/officeDocument/2006/relationships/notesMaster" Target="/ppt/notesMasters/notesMaster1.xml" Id="R42e70185876747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617f563d0a449d" /><Relationship Type="http://schemas.openxmlformats.org/officeDocument/2006/relationships/notesMaster" Target="/ppt/notesMasters/notesMaster1.xml" Id="R1e8a02a8ec6246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1fe5572f5b42d4" /><Relationship Type="http://schemas.openxmlformats.org/officeDocument/2006/relationships/notesMaster" Target="/ppt/notesMasters/notesMaster1.xml" Id="Re96247b56bce44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4067731b42421e" /><Relationship Type="http://schemas.openxmlformats.org/officeDocument/2006/relationships/notesMaster" Target="/ppt/notesMasters/notesMaster1.xml" Id="Rc029bd2e567540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fabdc712134b45" /><Relationship Type="http://schemas.openxmlformats.org/officeDocument/2006/relationships/notesMaster" Target="/ppt/notesMasters/notesMaster1.xml" Id="R86c41932084148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fc9c2dc5fc54fb6" /><Relationship Type="http://schemas.openxmlformats.org/officeDocument/2006/relationships/notesMaster" Target="/ppt/notesMasters/notesMaster1.xml" Id="R1a21f5f92c3c43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45437f76a65457b" /><Relationship Type="http://schemas.openxmlformats.org/officeDocument/2006/relationships/notesMaster" Target="/ppt/notesMasters/notesMaster1.xml" Id="Re4e0a6a075544f4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1e67a5f6aa44cd" /><Relationship Type="http://schemas.openxmlformats.org/officeDocument/2006/relationships/notesMaster" Target="/ppt/notesMasters/notesMaster1.xml" Id="R8b8e447a8ce44c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a19020941d45df" /><Relationship Type="http://schemas.openxmlformats.org/officeDocument/2006/relationships/notesMaster" Target="/ppt/notesMasters/notesMaster1.xml" Id="R6c31dd6cf8b74e0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d44ce6227f4b94" /><Relationship Type="http://schemas.openxmlformats.org/officeDocument/2006/relationships/notesMaster" Target="/ppt/notesMasters/notesMaster1.xml" Id="R07fca0d761024fa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dab49b01ad42ba" /><Relationship Type="http://schemas.openxmlformats.org/officeDocument/2006/relationships/notesMaster" Target="/ppt/notesMasters/notesMaster1.xml" Id="R40d10fb3e4a748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0c5018919054ea8" /><Relationship Type="http://schemas.openxmlformats.org/officeDocument/2006/relationships/notesMaster" Target="/ppt/notesMasters/notesMaster1.xml" Id="Rde330284256d49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cbf4930cfd44b8" /><Relationship Type="http://schemas.openxmlformats.org/officeDocument/2006/relationships/notesMaster" Target="/ppt/notesMasters/notesMaster1.xml" Id="R935de6a5abbb46b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a7808600b534902" /><Relationship Type="http://schemas.openxmlformats.org/officeDocument/2006/relationships/notesMaster" Target="/ppt/notesMasters/notesMaster1.xml" Id="R9bdb776c82c64c0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f03981580e4114" /><Relationship Type="http://schemas.openxmlformats.org/officeDocument/2006/relationships/notesMaster" Target="/ppt/notesMasters/notesMaster1.xml" Id="R171016f8acb249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cec6e2f09964d12" /><Relationship Type="http://schemas.openxmlformats.org/officeDocument/2006/relationships/notesMaster" Target="/ppt/notesMasters/notesMaster1.xml" Id="Rf9b1cff07db4431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f4d5c3f8ac94445" /><Relationship Type="http://schemas.openxmlformats.org/officeDocument/2006/relationships/notesMaster" Target="/ppt/notesMasters/notesMaster1.xml" Id="Re31bee5330d6486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abada301a9b4051" /><Relationship Type="http://schemas.openxmlformats.org/officeDocument/2006/relationships/notesMaster" Target="/ppt/notesMasters/notesMaster1.xml" Id="Ra4e0e544bfd146c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6ae1f608cf143a2" /><Relationship Type="http://schemas.openxmlformats.org/officeDocument/2006/relationships/notesMaster" Target="/ppt/notesMasters/notesMaster1.xml" Id="Rb582a6ba0fff4c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3997b10922d4eec" /><Relationship Type="http://schemas.openxmlformats.org/officeDocument/2006/relationships/notesMaster" Target="/ppt/notesMasters/notesMaster1.xml" Id="Re807ae0972d24ae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89f226515ef4827" /><Relationship Type="http://schemas.openxmlformats.org/officeDocument/2006/relationships/notesMaster" Target="/ppt/notesMasters/notesMaster1.xml" Id="R0f9831867c8541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1845549acc423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490e47ce12641fc" /><Relationship Type="http://schemas.openxmlformats.org/officeDocument/2006/relationships/slideLayout" Target="/ppt/slideLayouts/slideLayout2.xml" Id="Rfcb9a9252e4846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b9a9252e4846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9c82ed46114ea4" /><Relationship Type="http://schemas.openxmlformats.org/officeDocument/2006/relationships/image" Target="/ppt/media/image.png" Id="R5b9bfc3d415f41a8" /><Relationship Type="http://schemas.openxmlformats.org/officeDocument/2006/relationships/notesSlide" Target="/ppt/notesSlides/notesSlide1.xml" Id="R51ba8ba05a8942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fbbdd222bd4e79" /><Relationship Type="http://schemas.openxmlformats.org/officeDocument/2006/relationships/notesSlide" Target="/ppt/notesSlides/notesSlide2.xml" Id="R62507d0643f348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17df4d72e54662" /><Relationship Type="http://schemas.openxmlformats.org/officeDocument/2006/relationships/notesSlide" Target="/ppt/notesSlides/notesSlide3.xml" Id="R34726d810d6f43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6c60c2ca9e4bb5" /><Relationship Type="http://schemas.openxmlformats.org/officeDocument/2006/relationships/notesSlide" Target="/ppt/notesSlides/notesSlide4.xml" Id="R4f615dcaf2c943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11b60b670a4695" /><Relationship Type="http://schemas.openxmlformats.org/officeDocument/2006/relationships/notesSlide" Target="/ppt/notesSlides/notesSlide5.xml" Id="R58acd6ab2d8d42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ea53fd4dd8455c" /><Relationship Type="http://schemas.openxmlformats.org/officeDocument/2006/relationships/image" Target="/ppt/media/image.jpeg" Id="R53e7cf7d383f45d5" /><Relationship Type="http://schemas.openxmlformats.org/officeDocument/2006/relationships/notesSlide" Target="/ppt/notesSlides/notesSlide6.xml" Id="R371a6609ee1f4c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a11d273ba74603" /><Relationship Type="http://schemas.openxmlformats.org/officeDocument/2006/relationships/image" Target="/ppt/media/image2.png" Id="Rb47d587e760443ad" /><Relationship Type="http://schemas.openxmlformats.org/officeDocument/2006/relationships/notesSlide" Target="/ppt/notesSlides/notesSlide7.xml" Id="Rd80857e139254e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f96794e0a14f24" /><Relationship Type="http://schemas.openxmlformats.org/officeDocument/2006/relationships/image" Target="/ppt/media/image2.jpeg" Id="R4faea9a0f4664d58" /><Relationship Type="http://schemas.openxmlformats.org/officeDocument/2006/relationships/notesSlide" Target="/ppt/notesSlides/notesSlide8.xml" Id="R5f4e49cfad9444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67bb3791ec4ded" /><Relationship Type="http://schemas.openxmlformats.org/officeDocument/2006/relationships/image" Target="/ppt/media/image3.png" Id="R0689c67bb6e04fa5" /><Relationship Type="http://schemas.openxmlformats.org/officeDocument/2006/relationships/image" Target="/ppt/media/image4.png" Id="R265a852235ef4c94" /><Relationship Type="http://schemas.openxmlformats.org/officeDocument/2006/relationships/notesSlide" Target="/ppt/notesSlides/notesSlide9.xml" Id="R17873841c50845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8f6319ec594204" /><Relationship Type="http://schemas.openxmlformats.org/officeDocument/2006/relationships/image" Target="/ppt/media/image5.png" Id="R344742b306f741f0" /><Relationship Type="http://schemas.openxmlformats.org/officeDocument/2006/relationships/notesSlide" Target="/ppt/notesSlides/notesSlide10.xml" Id="R8d7c7bf6e5bd46f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56f4d6f6db4429" /><Relationship Type="http://schemas.openxmlformats.org/officeDocument/2006/relationships/image" Target="/ppt/media/image6.png" Id="R2b3d44da2e354e55" /><Relationship Type="http://schemas.openxmlformats.org/officeDocument/2006/relationships/notesSlide" Target="/ppt/notesSlides/notesSlide11.xml" Id="R222f62cc021c48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98147ffaf8415c" /><Relationship Type="http://schemas.openxmlformats.org/officeDocument/2006/relationships/notesSlide" Target="/ppt/notesSlides/notesSlide12.xml" Id="R18ce5be4f51340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a1ad85bf71465e" /><Relationship Type="http://schemas.openxmlformats.org/officeDocument/2006/relationships/image" Target="/ppt/media/image3.jpeg" Id="R628a2e700f234dd9" /><Relationship Type="http://schemas.openxmlformats.org/officeDocument/2006/relationships/notesSlide" Target="/ppt/notesSlides/notesSlide13.xml" Id="R62bd69035ac244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468fbde87948d7" /><Relationship Type="http://schemas.openxmlformats.org/officeDocument/2006/relationships/image" Target="/ppt/media/image4.jpeg" Id="R472c221ab0284c10" /><Relationship Type="http://schemas.openxmlformats.org/officeDocument/2006/relationships/notesSlide" Target="/ppt/notesSlides/notesSlide14.xml" Id="R568257cdf1154bd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4b6e68d82046b2" /><Relationship Type="http://schemas.openxmlformats.org/officeDocument/2006/relationships/image" Target="/ppt/media/image5.jpeg" Id="Refb98943a1154dde" /><Relationship Type="http://schemas.openxmlformats.org/officeDocument/2006/relationships/notesSlide" Target="/ppt/notesSlides/notesSlide15.xml" Id="R8821c584fde84a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bf211b7b2341ce" /><Relationship Type="http://schemas.openxmlformats.org/officeDocument/2006/relationships/notesSlide" Target="/ppt/notesSlides/notesSlide16.xml" Id="R0f165a684c834a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da18009e0f4d85" /><Relationship Type="http://schemas.openxmlformats.org/officeDocument/2006/relationships/image" Target="/ppt/media/image7.png" Id="R203cc1550e92411e" /><Relationship Type="http://schemas.openxmlformats.org/officeDocument/2006/relationships/notesSlide" Target="/ppt/notesSlides/notesSlide17.xml" Id="Rafc0c43da6f940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aec7f18c344757" /><Relationship Type="http://schemas.openxmlformats.org/officeDocument/2006/relationships/image" Target="/ppt/media/image8.png" Id="R3e3046ce1a514286" /><Relationship Type="http://schemas.openxmlformats.org/officeDocument/2006/relationships/image" Target="/ppt/media/image9.png" Id="R3fc930af0ecb4068" /><Relationship Type="http://schemas.openxmlformats.org/officeDocument/2006/relationships/notesSlide" Target="/ppt/notesSlides/notesSlide18.xml" Id="R35b779b1340149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9e26e8d5974aae" /><Relationship Type="http://schemas.openxmlformats.org/officeDocument/2006/relationships/image" Target="/ppt/media/image10.png" Id="Rb5d3c22b8ebc4cfa" /><Relationship Type="http://schemas.openxmlformats.org/officeDocument/2006/relationships/image" Target="/ppt/media/image11.png" Id="Rb7226c82d4524cd9" /><Relationship Type="http://schemas.openxmlformats.org/officeDocument/2006/relationships/notesSlide" Target="/ppt/notesSlides/notesSlide19.xml" Id="Rc52c99f313c14c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eec05a6a8a4937" /><Relationship Type="http://schemas.openxmlformats.org/officeDocument/2006/relationships/image" Target="/ppt/media/image12.png" Id="R3a3cd710d70e421f" /><Relationship Type="http://schemas.openxmlformats.org/officeDocument/2006/relationships/image" Target="/ppt/media/image13.png" Id="R62d6ecc216de4d2c" /><Relationship Type="http://schemas.openxmlformats.org/officeDocument/2006/relationships/notesSlide" Target="/ppt/notesSlides/notesSlide20.xml" Id="R2ec6017330f347c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a29f1950854034" /><Relationship Type="http://schemas.openxmlformats.org/officeDocument/2006/relationships/notesSlide" Target="/ppt/notesSlides/notesSlide21.xml" Id="R28c7b634f6e247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9bb989a5fa4c26" /><Relationship Type="http://schemas.openxmlformats.org/officeDocument/2006/relationships/image" Target="/ppt/media/image14.png" Id="R9b6db92d67c04925" /><Relationship Type="http://schemas.openxmlformats.org/officeDocument/2006/relationships/notesSlide" Target="/ppt/notesSlides/notesSlide22.xml" Id="R758cae72745249f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b9e58917f74378" /><Relationship Type="http://schemas.openxmlformats.org/officeDocument/2006/relationships/image" Target="/ppt/media/image15.png" Id="R53ac5eca6a754dc4" /><Relationship Type="http://schemas.openxmlformats.org/officeDocument/2006/relationships/notesSlide" Target="/ppt/notesSlides/notesSlide23.xml" Id="R71bdda939e29441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6cb6c32e374bfa" /><Relationship Type="http://schemas.openxmlformats.org/officeDocument/2006/relationships/image" Target="/ppt/media/image16.png" Id="Rdd48abd60423471d" /><Relationship Type="http://schemas.openxmlformats.org/officeDocument/2006/relationships/notesSlide" Target="/ppt/notesSlides/notesSlide24.xml" Id="Rb1c7d677b99c4b9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e49fcad8c44f1f" /><Relationship Type="http://schemas.openxmlformats.org/officeDocument/2006/relationships/notesSlide" Target="/ppt/notesSlides/notesSlide25.xml" Id="Rf3a5e1a826e14f0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bfc3d415f41a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6E573-48B6-4597-9995-13D2B6AB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05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4EC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E078325-73A3-4A0D-B2BE-B288240D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EE57C6-5B0E-4C3C-B853-0DDA46F6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53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本科毕业设计答辩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6232A-A18E-421E-A1F3-02EB330E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49530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基于多智能体协同的生成式商业画布系统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58E1C-43D3-4B5C-9ECE-800AAD9C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466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Design and Implementation of a Generative Business Canvas System Based on Multi-Agent Collaboration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73B89-B094-499E-87C8-297DC1A7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3371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EEF81A-6D13-46BD-8ABE-11C2CC13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学生：钱营涛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6F82BF-C8E8-449B-BFB8-4447F836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指导老师：王琼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80A07-ABD7-41D0-8243-664F029F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软件工程（中外合作办学）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7FA5B-D0E0-466C-A4AD-427F284A0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2026年6月</a:t>
            </a:r>
          </a:p>
        </p:txBody>
      </p:sp>
    </p:spTree>
    <p:extLst>
      <p:ext uri="{BB962C8B-B14F-4D97-AF65-F5344CB8AC3E}">
        <p14:creationId xmlns:p14="http://schemas.microsoft.com/office/powerpoint/2010/main" val="189199864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BEB54A-E50F-457D-9A64-418D439C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1C9E90D-F005-4903-8588-463F94AF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A90DFF1-23C9-4EEC-9FA0-9B095D1C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答辩主线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97E1E-B4A2-472E-B8ED-6866C1CE8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从“九宫格生成”推进到“可追溯的画布工作流”。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FD0B2-7ADD-42A3-8977-010DD461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07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7141B-0C3E-47A0-B16F-5E6CA678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E87A6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0E87A6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B588F4-BD4D-4089-B0E6-BFE77425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问题与目标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4D024-10B2-4EBA-8787-90EBD085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单次生成难以保证九维覆盖、证据链和可修改过程。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E22022-414D-484E-B59C-5B424DA3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038350"/>
            <a:ext cx="207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E8C84-249A-47B1-9BD9-D5B082FA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2669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4D7D5B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4D7D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05D944-4089-43A7-8646-37D8D8FE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52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方法设计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3B8DB-3293-4489-9C3F-886C054C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用多智能体、共享黑板、混合检索和引用对象拆开问题。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A93964-EACA-4B22-AD8C-A5E77BAE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207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8B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34C5E-8B2E-4824-BAEA-DDF7267C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18B2D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C18B2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25130A-04A6-4FC5-93E2-096EA244B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系统实现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C5471-9E91-4D39-9DD5-8FDFDE81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把画布本身做成主交互界面，承载内容、证据和运行状态。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D9302E-FA31-44A5-B49A-AE5A6076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38350"/>
            <a:ext cx="2076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E2DC4B-1B91-4B5D-9B08-DBEB67B2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66950"/>
            <a:ext cx="66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C25532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C25532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86B192-264D-40CF-B008-371A6310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527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实验结论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65662A-46A0-469C-9C85-A8CA0B3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29000"/>
            <a:ext cx="2000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覆盖修复和混合检索提升结构稳定性，局限也明确。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128F3-0DCC-4B61-A2AF-25F9D086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A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B406A-CAEA-4A44-830B-914588DE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A572E3-EDBA-4503-A2FB-000BD2C6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01721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237D3F-1BDE-4E68-A662-4CE454B9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9783D7E-BA48-41D9-B60F-FAF9175A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281A72B-B80E-4DCA-9429-A20FC43B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研究背景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8AB09-56EA-41DC-8E6E-0DF4147C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早期商业想法不完整，商业画布需要的是协同分析而非一次性写作。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4966CA-5708-488D-B83C-252F89F9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629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商业模式画布包含九个互相关联的维度，但创业者最初往往只提供产品想法。系统需要追问、检索、生成、校验和修改，而不是只返回一段文本。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2F756-19B4-4838-B328-CA414947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14500"/>
            <a:ext cx="2133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13507-7F4F-40EB-BE15-35E587F1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87A6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0E87A6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0C6BC-85FE-4BD4-AC92-0968AB3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47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输入缺口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7F77C4-17C8-4ED0-9F51-3E773CB9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5717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客户、收入、风险、验证路径常常缺失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D4530-1950-455A-8E54-612E1D4B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133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5BB70-F6CB-464B-9E8D-FD379CCC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859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7D5B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4D7D5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B0FDF-E339-4858-9912-6978451F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479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结构约束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818DB4-D904-4944-B265-31322B62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九个维度必须同时被覆盖和互相解释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4CD30-2E85-4C3D-AA44-53322BA1F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71900"/>
            <a:ext cx="2133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2AE53-8897-49BE-8BEB-B391D18B6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18B2D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C18B2D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C13B4C-E95D-46D5-B14B-6B65A30E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05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证据要求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7F4CB-FDE0-44F7-9E05-50D9EA33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商业判断需要能回到材料和来源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6541D-EBB9-4499-8D2F-B65D2337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71900"/>
            <a:ext cx="21336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28BE8-D600-41C1-A695-5906C3A4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433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25532"/>
                </a:solidFill>
                <a:latin typeface="Aptos Mono"/>
                <a:ea typeface="Aptos Mono"/>
                <a:cs typeface="Aptos Mono"/>
              </a:defRPr>
            </a:pPr>
            <a:r>
              <a:rPr sz="1500" b="1">
                <a:solidFill>
                  <a:srgbClr val="C2553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F913A-7E9E-4F9C-9907-90166B7F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05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交互需求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8D717-9AC8-4939-82E5-EECB5691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629150"/>
            <a:ext cx="1752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结果要能按单元检查、编辑和复用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38B1F-83B7-4455-B3A7-9CB8113D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76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2553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C25532"/>
                </a:solidFill>
                <a:latin typeface="PingFang SC"/>
                <a:ea typeface="PingFang SC"/>
                <a:cs typeface="PingFang SC"/>
              </a:rPr>
              <a:t>固定结构 + 不完整输入 + 证据要求 = 需要系统化协同，而不是单次补全文本。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A75D7E-205E-4DC4-B921-269C8755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E23026-9025-4D71-BAC8-E82D9733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08690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CEACB2-A493-417B-B2DF-628E8E58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2180A72-15FF-402C-B69A-5E59631C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4064216-5BD0-4F6F-BCFB-E6B0DB1D5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核心矛盾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2DCAC5-C61A-43C2-872A-19980F49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单次 LLM 调用把覆盖、证据和过程压进一个黑箱事务。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894F2-6C4B-4F32-B96A-DAF6EBAD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4724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6D7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7C00B-81FD-428B-B504-A4D04992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90700"/>
            <a:ext cx="47244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45A6E1-B712-4108-AF24-2DE3A22F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Single-call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4EA17-CFAB-4BA5-9EB8-421686E8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400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Starlink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C1716-0B73-438C-9EE7-AC3D05DC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99E73-254B-49FB-AF6B-24929B2A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350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一个模板提示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F942E-7115-4A81-9AA7-2FF79133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F51566-245A-4C70-BCDD-B8BF0D93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350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一次模型响应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90D70-EFE4-4D83-B895-88FC95B5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EB581-9198-4800-B6B6-8065916FA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350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九格内容依赖注意力分配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8F7607-C741-4502-ABAF-EC199D14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F1E753-9F36-4993-A8D8-27141025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81450"/>
            <a:ext cx="350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证据和过程不可检查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6EF4F0-D2C2-4A67-923C-D6499206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4DC4C-577A-45F4-BEED-A6970714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09850"/>
            <a:ext cx="350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预画布追问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6F6BA2-5428-45AB-A94D-5060ED9D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E6BB5A-9DFB-426F-AF71-C89B177E6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350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分工智能体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85D68-1218-4AAE-8AB4-13AE5AD8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0AFFD3-6247-4DEF-AF9D-2F62E941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350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黑板状态与覆盖检查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67E56-C050-42A1-9F8B-84CEEE36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833CFF-3077-47AF-87CF-1FCD82E1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81450"/>
            <a:ext cx="3505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结构化引用和可编辑画布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A10872-2C9D-4701-9C8D-EF5F63CE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28950"/>
            <a:ext cx="571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C25532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0">
                <a:solidFill>
                  <a:srgbClr val="C25532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421FDF-9E09-4D2F-8AD4-F9A98853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67350"/>
            <a:ext cx="9334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6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456DE-FF3F-4AA5-97F7-08B608AA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600700"/>
            <a:ext cx="8782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本文的系统设计目标，是把“生成答案”改造成“生成可审计的商业分析工件”。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E8AFD0-024A-4EBA-8E50-4776EEF4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4465CD-88B6-4BAB-97CD-83C33C85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349439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B645C8-3FA0-4C25-9DFD-BA361A74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ABF3CC8-2CF4-4B9C-9252-BA1F3FB1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E9EF24-EDF7-4F74-944C-569AA76A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研究目标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647E9-C9EA-453B-95E8-0FC73475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Starlink 的贡献在于把 BMC 生成组织成可检查、可恢复、可交互的系统过程。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A2C39-0109-47A8-BA75-505A1FED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9F0DED-1E10-4D07-B31E-776D84B4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87A6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0E87A6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3C6F8-C099-4C1D-946C-B3548B28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574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渐进式构建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BD31E-A3B5-4239-83BF-D39BB89C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955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Ideation Coach 先补全上下文，再进入画布生成。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87F85-1025-462C-A4D0-1FF0A3C4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8595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42F24-91D3-4773-B8DE-7FE27036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4D7D5B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4D7D5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23EF8-757D-4A42-8317-38034264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574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多智能体分工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62146-47B8-4929-988D-3A7AAC91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市场、产品、财务等角色分别负责不同 BMC 维度。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EC345-3943-43EE-80F9-901D9551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8595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D09662-8DC1-4CAF-A33B-687D3C7E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574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18B2D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C18B2D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CF5C7-CBD0-4B90-9805-42A15288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574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共享黑板与覆盖检查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64CCA-1926-4172-8EF4-3AAC3A9B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9555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每轮扫描九个维度，缺失维度可被重新分派。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39E54-19DE-4C81-B8AA-A1B53A53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7670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3810D-A7B6-48EC-BE0F-0EA79484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481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65C8E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665C8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7B0B3-0D27-402C-B539-A61EAD5C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2481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双语混合检索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6301F9-8260-4676-954B-855A128D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8630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语义检索与中文/英文词法匹配用 RRF 融合。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363950-E748-4891-A620-E7C477A5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29527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DD59CA-4117-4573-B692-C5F3190D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481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25532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C25532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F113B-6C27-4806-8E0D-F6FEEE7B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4815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画布即界面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3475B6-9461-4F64-A162-8AFF48DD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86300"/>
            <a:ext cx="2476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内容、引用、冲突、记忆和运行状态都在同一工作区中可见。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62E576-E933-4743-9CB9-6F855BC4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5C2697-2D55-4A48-A661-46A324E8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861299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810EFE-C06D-48FA-8C4F-44A035B8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B2F1D85-D2FC-45CD-8CF4-6D41018E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8AEAC0-41B0-43EA-B411-344D580D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总体流程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7EABE-6027-42F8-A958-25457C3C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Starlink 把一个想法推进成带证据、带状态、可修改的画布。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8C933-3101-4318-B4E7-F50B4600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A4A99-0E16-45DE-90DF-73F78267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单次 LLM 基线只输出一个完整响应，缺少中间状态。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C8BA3-FF4B-490F-BCE2-517912AE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767C0-8F24-4A69-B02D-78F84866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Starlink 将输入澄清、检索、智能体生成、审查和画布呈现拆成阶段。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5ADD1-40B7-47DF-8CA4-DA03CBC7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C6DCE-6E52-4FD6-8593-C19D681A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每个阶段都留下可检查的状态或引用对象，为后续修改提供入口。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B7B4E-279C-442A-A006-79DD9BE4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04950"/>
            <a:ext cx="56388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7cf7d383f45d5"/>
          <a:stretch xmlns:a="http://schemas.openxmlformats.org/drawingml/2006/main"/>
        </p:blipFill>
        <p:spPr>
          <a:xfrm xmlns:a="http://schemas.openxmlformats.org/drawingml/2006/main">
            <a:off x="5657850" y="2004902"/>
            <a:ext cx="5410200" cy="3019647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6633C-08C1-46DA-9AB1-D43EFFCE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553075"/>
            <a:ext cx="541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图：论文 Figure 1-1 工作流对比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EB724-14E4-4EB0-9278-A960565E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F77780-C155-4D4D-AC0F-41C02C87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60425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C298A2-F5F7-4844-84EC-DACE3ACE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27D5C05-53DC-4B00-9D30-DE0DBA4A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73E278E-BB75-41B8-A7A1-11E8509E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系统框架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EC061-EC13-466D-98DD-5543DD9F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三支柱结构把推理、证据和界面分开治理。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D1C01F-C242-47E6-991F-A945AC689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562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d587e760443ad"/>
          <a:stretch xmlns:a="http://schemas.openxmlformats.org/drawingml/2006/main"/>
        </p:blipFill>
        <p:spPr>
          <a:xfrm xmlns:a="http://schemas.openxmlformats.org/drawingml/2006/main">
            <a:off x="723900" y="2023265"/>
            <a:ext cx="5334000" cy="300197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CA063-CE05-4657-A299-9361C645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530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图：Starlink progressive canvas construction framework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B7D76-EC39-4C00-8A11-815CBC2C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79D70-67F3-40B4-ACDE-8252A321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09750"/>
            <a:ext cx="39814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Reasoning core：监督器、领域生成器、critic、synthesizer 和 utility agents。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05AD2-9E12-4329-9042-C2E6FD68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1A2869-3DBE-44B5-9803-0F08A33D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33625"/>
            <a:ext cx="39814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Retrieval layer：面向 agent 绑定的知识库检索，不是全局无差别注入。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F87BCD-7782-4E24-8629-D6D901DD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782F60-D646-4B73-A914-7E9819FD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57500"/>
            <a:ext cx="39814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Canvas interface：每个画布单元成为可引用、可展开、可编辑的对象。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CCF0D-804C-4925-A5DA-4685F443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16E314-2BD6-4588-9BFD-EAF4CCC8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22531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9C3DBB-0D87-4806-98D4-E7E2435B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07CB3D6-0BDD-4620-8ED3-881D7205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520A9C2-948A-4163-974A-89988EE7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可部署架构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AC3C64-A229-45F7-BD63-0534B027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五层架构让多智能体画布从研究原型落到可运行系统。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914F0-1F29-4340-88ED-B37A0983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87192-0110-41DD-A30B-FE986407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Frontend 负责画布工作区、引用交互、运行状态和浮层布局。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C8F9D5-D62E-4E89-B834-C33FAFDC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1AEBC6-82C6-44EF-B990-FA8F739A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GraphQL gateway 统一订阅、查询、鉴权和运行时事件。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06C187-7057-48DC-AB9A-FE455372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E8FAE5-50D4-450A-BAE7-74437BA7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Reasoning、Knowledge、Persistence 分层，避免业务状态散落在模型响应中。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DEFD6-8A51-4B87-900E-2BB61A5C2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AC72A-43A6-45C6-A329-03A98534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共享类型库保证前后端契约一致。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D01560-0013-431A-B089-2B85901D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04950"/>
            <a:ext cx="56388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ea9a0f4664d58"/>
          <a:stretch xmlns:a="http://schemas.openxmlformats.org/drawingml/2006/main"/>
        </p:blipFill>
        <p:spPr>
          <a:xfrm xmlns:a="http://schemas.openxmlformats.org/drawingml/2006/main">
            <a:off x="5657850" y="2004902"/>
            <a:ext cx="5410200" cy="301964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F7F08-ABF3-467B-BC5D-EB2E94CC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553075"/>
            <a:ext cx="541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图：论文 Figure 4-1 五层可部署架构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14CA5-6982-4BF5-A2C9-BC070DCF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017B7B-BD38-42F7-85B3-77796EB2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680886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10F362-6DDC-4A87-BBF8-797F14FF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FC2744D-89AA-4913-B3AD-C96A4EE3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5489616-E8A8-44B1-8CA0-3E224F97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预画布阶段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70DA3-BF78-4AF4-BE13-428143FD6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生成前先补足上下文，降低“凭空补全”的风险。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21FA8-B21C-4FEB-872F-FB214E82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4914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9c67bb6e04fa5"/>
          <a:stretch xmlns:a="http://schemas.openxmlformats.org/drawingml/2006/main"/>
        </p:blipFill>
        <p:spPr>
          <a:xfrm xmlns:a="http://schemas.openxmlformats.org/drawingml/2006/main">
            <a:off x="1670685" y="1657350"/>
            <a:ext cx="2830830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1D051-F333-415C-8F18-FAC84AA2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43050"/>
            <a:ext cx="4914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a852235ef4c94"/>
          <a:stretch xmlns:a="http://schemas.openxmlformats.org/drawingml/2006/main"/>
        </p:blipFill>
        <p:spPr>
          <a:xfrm xmlns:a="http://schemas.openxmlformats.org/drawingml/2006/main">
            <a:off x="6769461" y="1657350"/>
            <a:ext cx="4672878" cy="2628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0B6EE7-A111-44BA-B1B1-16A1DB3E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知识库上传与绑定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8E5E7-4D6E-438B-BBA0-715D7453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485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553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5532"/>
                </a:solidFill>
                <a:latin typeface="PingFang SC"/>
                <a:ea typeface="PingFang SC"/>
                <a:cs typeface="PingFang SC"/>
              </a:rPr>
              <a:t>七步 Ideation Coach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8CC1A-99BB-4A68-8D3E-4C9D6077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12A38-5319-4656-B920-3C1D9E79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62550"/>
            <a:ext cx="872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知识库可来自文本种子、URL、文件和管理端 SQL。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31692-FA98-4B35-B63B-95A3CA09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15FD5-EC01-495D-8FB0-0834B9EC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48300"/>
            <a:ext cx="872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Coach 通过结构化问题补齐用户没有说清的客户、价值、成本和验证信息。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09CC1A-953A-487A-A2A8-D8FA38A1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828889-E6CF-46BF-BF7B-95E89873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34050"/>
            <a:ext cx="872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两者都进入后续黑板和记忆层，成为生成时可复用的上下文。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72EF70-82CB-49B6-A17F-8932FDB8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172C5-AE3B-40D5-9523-95EC4537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399503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1D400E-A7C4-4685-859E-0919FC92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6AAA53E-C1AF-437B-AC09-AE5B9F5F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2BC6B85-EC40-4673-BCF8-7D45F562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多智能体分工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990DCE-B75B-47BE-86B8-35CAB170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智能体数量不是重点，职责边界和能力绑定才是重点。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C552B-47EB-4EE6-84E8-E5550ABC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59626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742b306f741f0"/>
          <a:stretch xmlns:a="http://schemas.openxmlformats.org/drawingml/2006/main"/>
        </p:blipFill>
        <p:spPr>
          <a:xfrm xmlns:a="http://schemas.openxmlformats.org/drawingml/2006/main">
            <a:off x="919705" y="1619250"/>
            <a:ext cx="5228140" cy="3600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B1285-3D43-4E12-8E4D-EE459E59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76400"/>
            <a:ext cx="350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7302F6-99F1-40F1-92F8-24FE9B00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716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87A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0E87A6"/>
                </a:solidFill>
                <a:latin typeface="Aptos Display"/>
                <a:ea typeface="Aptos Display"/>
                <a:cs typeface="Aptos Display"/>
              </a:rPr>
              <a:t>Market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A1CCA-86DD-4557-A08F-BFD722DB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907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客户细分 / 渠道 / 客户关系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E3501-86CB-49F8-A0E8-607392B4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350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11452-8154-46E0-921F-9AE8B6C3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955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D7D5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4D7D5B"/>
                </a:solidFill>
                <a:latin typeface="Aptos Display"/>
                <a:ea typeface="Aptos Display"/>
                <a:cs typeface="Aptos Display"/>
              </a:rPr>
              <a:t>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F72F1-C815-4309-8AF3-0C626DF8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146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价值主张 / 关键资源 / 关键活动 / 关键伙伴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811D2-978F-4607-9075-BC191400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24200"/>
            <a:ext cx="350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9DC6E-7D4D-4AC3-A91E-90CD6600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194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18B2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18B2D"/>
                </a:solidFill>
                <a:latin typeface="Aptos Display"/>
                <a:ea typeface="Aptos Display"/>
                <a:cs typeface="Aptos Display"/>
              </a:rPr>
              <a:t>Finance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65238-2C96-4202-BFA5-297BDBDD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385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收入来源 / 成本结构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50B35-D9B6-4823-B87F-EB026190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48100"/>
            <a:ext cx="350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2D9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C1D4F-E431-44F7-9E86-DB6C0312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433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553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C25532"/>
                </a:solidFill>
                <a:latin typeface="Aptos Display"/>
                <a:ea typeface="Aptos Display"/>
                <a:cs typeface="Aptos Display"/>
              </a:rPr>
              <a:t>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8735C-EEAC-4323-A625-F7F6E4FA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624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冲突检查 / 有限辩论 / 裁决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A96C5B-5380-4D5D-B1F9-61D88C32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72000"/>
            <a:ext cx="3505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A2A9A1-76D3-4153-B67D-F9F05183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672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5C8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65C8E"/>
                </a:solidFill>
                <a:latin typeface="Aptos Display"/>
                <a:ea typeface="Aptos Display"/>
                <a:cs typeface="Aptos Display"/>
              </a:rPr>
              <a:t>Utility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2AF78-069C-43FA-9269-16C23FE9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863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问答 / 深度研究 / 报告生成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947A6-1E29-4BD0-A38A-1B165AD3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562600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2553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25532"/>
                </a:solidFill>
                <a:latin typeface="PingFang SC"/>
                <a:ea typeface="PingFang SC"/>
                <a:cs typeface="PingFang SC"/>
              </a:rPr>
              <a:t>答辩强调：agent 是职责边界，不是“越多越聪明”。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F798AB-F5BD-438D-95C4-88DEC456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EA95CD-721E-4E37-9829-55C57DF2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1299926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580CC2-E6F2-4644-96FF-494541F8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4B7212F-DBF0-40DC-811C-8EA1F175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B966DCE-62A9-4A15-844D-857FFFE7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覆盖约束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62674-7385-48C5-8A2A-F2333A3F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九个画布维度先有责任地图，再让模型生成。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82CF1-DCDB-429C-BB4A-BCFC892F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562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3d44da2e354e55"/>
          <a:stretch xmlns:a="http://schemas.openxmlformats.org/drawingml/2006/main"/>
        </p:blipFill>
        <p:spPr>
          <a:xfrm xmlns:a="http://schemas.openxmlformats.org/drawingml/2006/main">
            <a:off x="723900" y="2652268"/>
            <a:ext cx="5334000" cy="174396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8B6C1-AB3B-41C7-B076-8843FC03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530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图：Table 3-2 capability coverage matrix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FCC29-ABE8-4AD7-A996-77256E81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F066F5-33E9-4A6A-867F-ACAB09F1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09750"/>
            <a:ext cx="39814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能力矩阵记录每个 agent 对每个 BMC 维度的 generate / validate / insight 绑定。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27934-5AAE-4A58-8908-0522A439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6BAFB-78AC-4727-8337-84F23A74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33625"/>
            <a:ext cx="39814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启动时检查每个维度至少有一个生成责任主体。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23EAC8-7485-411C-ABAA-6B2C32E0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B8E03-C8C1-4234-B6AB-9508109D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57500"/>
            <a:ext cx="39814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运行时扫描黑板中已填充的 cell，缺失项在有界轮次内重新分派。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04869-0FE1-4B1C-AD85-3CA165DA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57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DBCB2-E5EF-4848-94A6-EAF1275F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81375"/>
            <a:ext cx="39814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这不是保证内容正确，而是防止结构性遗漏被隐藏。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05875-6B57-44F2-8F9A-DA5FC7D4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1ACDCA-D31F-450B-8B73-04D82D4B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5561283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DF42D-5AF6-4036-9BF7-E2FED586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258CDF6-EB37-4232-966A-AB7DA983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C8A870F-1C83-43E0-8E97-E43576E8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共享黑板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1915B-2B1B-43F2-8806-5B8B9DDD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并行生成依靠黑板合并，而不是靠多轮聊天自然收敛。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7E055-8DB9-4FC7-BAF8-FDCC39CA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5B370-6230-4925-BE2E-EBC44EF1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用户问题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B65459-24D0-4B11-96AA-AA94E309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question + workspace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7CA22-67AF-4737-9E4D-B0531E18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86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D5CAB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D5CABC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68449-F460-4931-84AF-FFC30DC1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240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D85EA3-0AF5-4BBF-8E0C-6CB68155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955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2553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C25532"/>
                </a:solidFill>
                <a:latin typeface="PingFang SC"/>
                <a:ea typeface="PingFang SC"/>
                <a:cs typeface="PingFang SC"/>
              </a:rPr>
              <a:t>SupervisorDispatch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D83AC-2DCA-42C4-B631-317E197E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选择 active agents 与执行模式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A519CC-B6FA-4B2A-AA0E-76C900BE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860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D5CAB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D5CABC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8ACF6-D181-40AB-93D2-705CA8C9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2405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F0A61-E414-49AC-A760-A8505ED8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955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领域智能体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8CDEC1-5263-45F2-AB42-2A4F5A58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Market / Product / Finance 并行写入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E0432-E9A9-4998-88D5-C8C1F8E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BE47E-0226-44C5-A116-B0A2BDB8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2553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C25532"/>
                </a:solidFill>
                <a:latin typeface="PingFang SC"/>
                <a:ea typeface="PingFang SC"/>
                <a:cs typeface="PingFang SC"/>
              </a:rPr>
              <a:t>BlackboardUpdate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C39D3-E254-4B59-BA3B-C6433604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merge-by-identity 合并状态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B27D5-DFEF-47AB-8B59-97DBC77C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10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D5CAB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D5CABC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95269A-7CB7-43F4-A0E8-32040226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481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F7B562-8DAA-4EA8-BF29-28E5E3FC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19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Critic + Synthesizer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641FFE-4F6F-4CFD-A617-AA6EBBF3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005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冲突、洞察、结构关系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A1F3DD-14D7-434A-8034-67FE808A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D5CAB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0">
                <a:solidFill>
                  <a:srgbClr val="D5CABC"/>
                </a:solidFill>
                <a:latin typeface="Aptos Display"/>
                <a:ea typeface="Aptos Display"/>
                <a:cs typeface="Aptos Display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636F24-329B-400A-8F3D-1160503E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48100"/>
            <a:ext cx="2857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755D23-C7B4-4DA6-A13E-E9C96E7F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19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2553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C25532"/>
                </a:solidFill>
                <a:latin typeface="PingFang SC"/>
                <a:ea typeface="PingFang SC"/>
                <a:cs typeface="PingFang SC"/>
              </a:rPr>
              <a:t>Canvas Persist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8D2A9D-AA37-49CC-B51F-E2913FA3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0055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持久化画布、引用和 trace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E295BA-6FA1-416B-8226-319D7FC1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8165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核心原则：所有状态变更通过统一 update primitive，列表字段按 id 合并，控制字段 last-write-wins。这样并行写入不会互相覆盖。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C1A67D-256B-46A5-A91D-CEC1A29A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1DDBB3-5AE9-4547-A782-54107A44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4237936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EB1E74-CCFA-4784-A20A-AD824A2D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297A8DA-7605-40A8-BB29-6B36A0DA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1559393-CE37-4980-9AC2-34086DDEB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调度与评审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0C2D1-C9FF-40F6-8130-EC20D6BB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监督器先路由，再用有限评审处理严重跨维冲突。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0DFC9-863E-4BE4-8DF7-1367151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8C85B-0274-4B32-B338-7BF9353E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画布生成首轮并行调用三个领域生成器。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EC2DD-59DE-4647-B5D6-6E483D2B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6B199-D461-496F-A22E-12BE72A6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高严重度冲突会把 opponent 与 moderator 加入下一轮。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0B6F3-2A7A-4D37-BCB4-2B9F3F54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6C2E5-6AD9-4842-8186-6DC45628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评审循环有三轮上限，避免开放式多智能体对话失控。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D3DA53-94DD-4EFA-A4B0-3092E85C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8161B0-D53D-407D-869E-6FF8C6EF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客户端同时收到 HITL interrupt，用户可接受、修订或忽略裁决。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DA2A6-9E98-40AE-9BA1-C2518CC7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04950"/>
            <a:ext cx="56388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a2e700f234dd9"/>
          <a:stretch xmlns:a="http://schemas.openxmlformats.org/drawingml/2006/main"/>
        </p:blipFill>
        <p:spPr>
          <a:xfrm xmlns:a="http://schemas.openxmlformats.org/drawingml/2006/main">
            <a:off x="5657850" y="2004902"/>
            <a:ext cx="5410200" cy="301964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A9EE1-EA3D-4E03-AD0E-951127B5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553075"/>
            <a:ext cx="541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图：Supervisor routing flowchart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B83CDA-8EF2-47D0-A08B-07409408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9996EF-C807-40C9-8540-3F91247B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816526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503514-6B3C-492F-B95B-825DDA85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17928BF-9F01-44EC-B574-6439DAA8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7613B9D-48A2-403F-B753-5C1CB21D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引用溯源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C34B3-654A-43D2-953D-8BC4671F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引用不是脚注，而是贯穿证据、智能体输出和画布单元的系统对象。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E7168-FC25-48A5-B45D-3CCAA444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562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c221ab0284c10"/>
          <a:stretch xmlns:a="http://schemas.openxmlformats.org/drawingml/2006/main"/>
        </p:blipFill>
        <p:spPr>
          <a:xfrm xmlns:a="http://schemas.openxmlformats.org/drawingml/2006/main">
            <a:off x="723900" y="2069523"/>
            <a:ext cx="5334000" cy="29094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E19BC-750C-435F-A7F0-3EA01FA7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5307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图：Citation lifecycle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8F24C-EDAE-4FEB-9738-749226AB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BD1F0-937C-4A3A-9C39-ADE5D417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09750"/>
            <a:ext cx="39814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文档证据、结构关系、critic 冲突和 synthesizer insight 被区分为不同引用类型。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74858-958A-4ADC-B3C4-0B5E01889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9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C99B7F-FDC2-451C-81E1-607804AF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33625"/>
            <a:ext cx="39814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用户可以从画布 claim 打开证据，也可以从证据反查引用它的所有画布单元。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F067AA-FCC4-4B46-93E1-67A43946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33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A0441-6AAE-447D-808A-AB76C834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57500"/>
            <a:ext cx="39814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report-writer 额外用 unsupported marker 标明非检索推断。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31BE3-AF8C-47A7-AC70-204164EF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AF0C2-A276-4CBB-AB6E-3F1BC940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7756919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65887D-D963-45BF-A304-807F0546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29C873F-FEBF-4B63-9EC5-59C91F35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2524204-D1CB-4EC9-BAEB-E381CD559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双语混合检索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B7E96-C168-4177-88DC-A962DAA9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检索层把语义质量和故障韧性分开设计。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96E6E-91E3-4A39-9265-022E72E4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442020-C8E2-4F84-961E-F12988BB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Dense channel 使用嵌入向量处理语义相似度。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3663E-4900-4ECD-AF51-F1169ED8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C6EEF-E3C5-4953-ACF7-7CA21276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Lexical channel 用 Unicode 类别分词：英文保留长度≥3词，中文用二元组。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B63DC-3830-45AC-858B-205F9DDE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549F6-35D2-447F-A443-6F9B713B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Reciprocal Rank Fusion 融合两路排序，避免分数标定依赖。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8EA0B-7C31-4B2B-A1FC-641D0BAF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9BF60-5281-4A92-BD9B-A91F407A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当 embedding 服务降级时，词法通道仍能保留可用证据。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503A2B-1AD0-427E-99F2-6CA5640D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04950"/>
            <a:ext cx="56388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98943a1154dde"/>
          <a:stretch xmlns:a="http://schemas.openxmlformats.org/drawingml/2006/main"/>
        </p:blipFill>
        <p:spPr>
          <a:xfrm xmlns:a="http://schemas.openxmlformats.org/drawingml/2006/main">
            <a:off x="5657850" y="2004902"/>
            <a:ext cx="5410200" cy="3019647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E8A05-49EA-4354-A897-2BAE74D7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553075"/>
            <a:ext cx="541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图：Hybrid retrieval pipeline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8EB72-60A6-4E05-A01F-E6547A15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82280D-C549-4C7A-8790-51CAFE66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3911204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8E7112-61A2-4CC7-8F0E-46AC0E97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6DE1880-4F80-4A61-9DDC-9CA6B916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0A6773A-C2E5-4AC9-AC5B-0F78BFE4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生成流水线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DF28B-3E06-4BAB-963E-ADF218D3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画布生成的主路径是有界 DAG，只有评审是受控循环。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D7BFD-42A6-4728-9D48-88E72C6D1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428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C99DC-3274-4FA8-ACEE-7F1D35976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87A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E87A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B710A-2F9F-441D-9CDE-97118B00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组装状态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5D7ECC-63CC-4A18-BEFC-A86B8E4B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question / KB / memory /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62BFDB-7CAC-421C-B7D4-EC8BAB89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6860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5CAB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5CABC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1AC4B-3F33-4547-BD4C-A13673E0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00250"/>
            <a:ext cx="1428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26140-25D1-42FE-804B-780AA28E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9075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D7D5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4D7D5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FC56A-021D-4F04-88EF-6297C1625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241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监督分派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727C67-12A0-43A8-B183-B656FA16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1813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classify intent and active agents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267AE-6F5C-46EE-A190-A9F8A1EB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6860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5CAB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5CABC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4B174F-396E-4F72-9BE2-A790FE2B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00250"/>
            <a:ext cx="1428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39A772-B879-40F2-8A78-66F2D7CC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18B2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18B2D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F66D34-65D4-4B44-A199-AD8CD6B6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检索证据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2C43E5-1727-4E61-99A6-2E0E57F4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813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bound KB top-K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61D29-648C-498B-A356-8ACB63BA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860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5CAB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5CABC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AC5A71-4255-4121-BF29-098C7D15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1428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BBC24-ADE3-4422-90FD-97C07CCD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2553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C25532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9883C3-87B3-4D59-A316-A14A0751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241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并行生成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0BB158-9465-4B38-8CDE-511EB695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813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market / product / finance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9D3D0-AD17-4C13-99D9-9F20E914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860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5CAB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5CABC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654CE0-46CE-4B31-972D-6690EE48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1428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277139-AEDE-4419-B23C-69B25D91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19075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65C8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665C8E"/>
                </a:solidFill>
                <a:latin typeface="Aptos Display"/>
                <a:ea typeface="Aptos Display"/>
                <a:cs typeface="Aptos Display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4DCFED-B881-48A4-BA87-052E0281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审查修复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9A16B2-DB58-4012-AD78-7423414E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813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critic + limited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8C89F4-70BB-4342-8959-A2C620B6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68605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5CABC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D5CABC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A2DED2-C058-482C-9A26-544697E4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00250"/>
            <a:ext cx="14287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D605CB-9BE4-4611-B200-EB2D183D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190750"/>
            <a:ext cx="495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87A6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E87A6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11757F-C41A-4957-A584-C90EB01F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7241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综合持久化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4B8419-6E2A-4605-8923-04A38AC8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181350"/>
            <a:ext cx="1066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synthesizer + canvas update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6C3106-51D2-4177-951C-0D1C52CD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6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4218AC-F764-43F4-9C0A-75AC1614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149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答辩口径：系统的创新点不是“让很多 agent 聊天”，而是把固定结构工件的生成过程变成可检查状态机。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1CB3C9-6205-4769-ACFC-0B161D0B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08AD31-E18C-4E60-9467-F3D004F6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672527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F2204C-5FB5-44E4-848D-0A6AEB0A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A01B28B-6B18-402C-A9EA-F1BB5F28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457B5EE-261D-486F-B57B-B17E99A3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主交互界面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436A4-EB4D-4145-A33C-12D5CD2C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画布不只是结果展示，它承载覆盖、引用、冲突和修改入口。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F9E60-9153-4F35-ABDF-0BBA699D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057C8-5CF9-4E14-9F00-A81A7A9C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每个 BMC 维度是一个可展开、可编辑的 canvas cell。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C15B81-46DA-4478-8623-C87F547C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9BE07-ED2D-4C3E-A610-BFED03B9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聊天、引用、单元详情、记忆和运行状态在同一工作区中浮动呈现。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2A2DB1-C01C-4C5E-9FE9-94281345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F3268-B4FF-4A22-9DA2-6595267C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用户能从生成内容进入证据，也能从证据回到相关 cell。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B41C3-A963-4DAB-AF1C-B806FDA8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04950"/>
            <a:ext cx="56388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cc1550e92411e"/>
          <a:stretch xmlns:a="http://schemas.openxmlformats.org/drawingml/2006/main"/>
        </p:blipFill>
        <p:spPr>
          <a:xfrm xmlns:a="http://schemas.openxmlformats.org/drawingml/2006/main">
            <a:off x="5657850" y="1989449"/>
            <a:ext cx="5410200" cy="3050552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AFF7D8-5457-4A7A-A873-7B0141E5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553075"/>
            <a:ext cx="541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图：Canvas viewport in freeform mode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87885-285F-4DE4-BBA9-5DD2E1A6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CD928-ABB4-4184-8534-3119C45B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8010569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F6DBE0-396C-4B10-84E7-6EA0B8B3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DB0F2EF-A237-4AF1-9E49-49DAF9B1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660DD26-6D40-4FC9-AB93-5FA703CE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双模式画布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FED37-47EB-4B9B-9648-7E78A3B0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同一批节点既能自由探索，也能收束成九宫格呈现。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D818B-6101-4C61-9817-64F06FCE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4914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046ce1a514286"/>
          <a:stretch xmlns:a="http://schemas.openxmlformats.org/drawingml/2006/main"/>
        </p:blipFill>
        <p:spPr>
          <a:xfrm xmlns:a="http://schemas.openxmlformats.org/drawingml/2006/main">
            <a:off x="742950" y="2292287"/>
            <a:ext cx="4686300" cy="1359027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D32A3-5A28-43FD-856A-3DF01440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43050"/>
            <a:ext cx="4914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930af0ecb4068"/>
          <a:stretch xmlns:a="http://schemas.openxmlformats.org/drawingml/2006/main"/>
        </p:blipFill>
        <p:spPr>
          <a:xfrm xmlns:a="http://schemas.openxmlformats.org/drawingml/2006/main">
            <a:off x="6776330" y="1657350"/>
            <a:ext cx="4659140" cy="2628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49400F-D603-44DE-BF9A-EC8CCB23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Freeform / Grid 双模式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08473-83BE-4221-9C5A-AD2C9C59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485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553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5532"/>
                </a:solidFill>
                <a:latin typeface="PingFang SC"/>
                <a:ea typeface="PingFang SC"/>
                <a:cs typeface="PingFang SC"/>
              </a:rPr>
              <a:t>完成后的九维 BMC 网格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C3A819-EA5E-4ABC-8BC4-BC12254E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28936-F5D2-443C-97B4-A55C98D2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62550"/>
            <a:ext cx="872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探索阶段允许自由排布和多候选比较。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FD6A07-2B27-4252-895E-90EF5E20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D6D04-EFCC-47CA-A103-A494955F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48300"/>
            <a:ext cx="872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展示阶段切换到严格九格布局，让结构覆盖一眼可见。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B7846-CBE1-4CEF-A986-545F29C9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B9E298-E672-4B13-9C6E-ED3FEBD9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34050"/>
            <a:ext cx="872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节点语义不变，只替换布局策略，避免在模式切换中丢失状态。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667947-0116-4A57-80BC-FF4B8E3F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07BDB9-0427-42B2-BB9B-9EFA5F85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6258850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E1B501-0B29-45CB-8F44-903D3296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0648F4C-42FA-4333-850A-C823D14E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D562E9-9C74-423F-91B8-57928DB1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输出复用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7F81B2-F73A-4D88-8B76-4AB26944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报告和记忆让一次画布运行进入后续工作，而不是会话结束即消失。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BAC49-EF95-418D-B482-F23E53A7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43050"/>
            <a:ext cx="4914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d3c22b8ebc4cfa"/>
          <a:stretch xmlns:a="http://schemas.openxmlformats.org/drawingml/2006/main"/>
        </p:blipFill>
        <p:spPr>
          <a:xfrm xmlns:a="http://schemas.openxmlformats.org/drawingml/2006/main">
            <a:off x="1778117" y="1657350"/>
            <a:ext cx="2615966" cy="2628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2BB4D-DD1F-4541-AFD9-4823EE4C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543050"/>
            <a:ext cx="4914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226c82d4524cd9"/>
          <a:stretch xmlns:a="http://schemas.openxmlformats.org/drawingml/2006/main"/>
        </p:blipFill>
        <p:spPr>
          <a:xfrm xmlns:a="http://schemas.openxmlformats.org/drawingml/2006/main">
            <a:off x="7773643" y="1657350"/>
            <a:ext cx="2664513" cy="26289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A8250-24EF-414E-AB53-CDBC5805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Report writer 输出八段战略报告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B6226-CC7D-427C-A80D-2480547F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14850"/>
            <a:ext cx="4686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2553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25532"/>
                </a:solidFill>
                <a:latin typeface="PingFang SC"/>
                <a:ea typeface="PingFang SC"/>
                <a:cs typeface="PingFang SC"/>
              </a:rPr>
              <a:t>Memory panel 保留摘要、决策和 user-skill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955F4-9FF6-4C68-9FC3-ACE268CC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38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5849C-9B60-4E26-8C7B-37FD3563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62550"/>
            <a:ext cx="872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报告读取九个 cell、critic 日志、synthesizer insight 和引用证据。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6FA313-557B-4742-83C2-9178CEB8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6CBE2-75A8-4B3C-935D-95AC2EDD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48300"/>
            <a:ext cx="872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记忆按 session / workspace / user 作用域保存，配合 importance 与 confidence 衰减。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09F0B-966C-4B3F-810F-A5D905E0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10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C25D2-F3D5-4F0A-9839-84652C72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734050"/>
            <a:ext cx="8724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用户可接受或拒绝推断出的 user-skill，形成后续 supervisor routing 的输入。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B16EC-D882-42DC-BEF5-78045BA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87CFC-77D8-43B2-B884-53ED8EC7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32634240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A57A74-23F1-4016-BD69-9430140B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7CCBD65-8CBF-47A9-91C1-FC663F16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67C098-F6B2-4E5C-A447-90D2CA5A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运行可观测性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FE996-3432-4C68-AA5D-955EE908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用户和开发者都能看见系统慢在哪里、谁贡献了什么。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1967A-1701-4FF9-BDDA-DB456C39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556260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cd710d70e421f"/>
          <a:stretch xmlns:a="http://schemas.openxmlformats.org/drawingml/2006/main"/>
        </p:blipFill>
        <p:spPr>
          <a:xfrm xmlns:a="http://schemas.openxmlformats.org/drawingml/2006/main">
            <a:off x="1346137" y="1657350"/>
            <a:ext cx="4051426" cy="2286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17D06-B901-49FD-8468-43C3107A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9600"/>
            <a:ext cx="55626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6ecc216de4d2c"/>
          <a:stretch xmlns:a="http://schemas.openxmlformats.org/drawingml/2006/main"/>
        </p:blipFill>
        <p:spPr>
          <a:xfrm xmlns:a="http://schemas.openxmlformats.org/drawingml/2006/main">
            <a:off x="704850" y="4534506"/>
            <a:ext cx="5334000" cy="894139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58B86-0489-4A83-AB7E-42EA979E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66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F7070-9760-4A8F-A6D6-7AB04B0D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790700"/>
            <a:ext cx="3695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Mention 层：用户交互是否触发预期能力。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E0521-6532-46C6-8FC6-CCE4DDEE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62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CDBEF-87B5-41AD-9F2D-3B2EAAD8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86000"/>
            <a:ext cx="3695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Subgraph 层：各 agent 调用、耗时和错误率。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914FCC-3CB7-4314-B8D5-CC211521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8F32B0-6A26-4972-8767-F6266C11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81300"/>
            <a:ext cx="3695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Tool 层：每个声明能力对应的工具调用流。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E26C3-69DD-4560-9DFF-7E04DAE4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52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9C0555-719E-4622-B0F4-A99B4B84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76600"/>
            <a:ext cx="3695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Stage strip：input / generate / review / synthesize / report 五阶段状态。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8A9DA-92BB-480B-A748-E68B2FE0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EC030-5069-4DBE-A794-910D9EA6A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0717526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0FB490-39A9-4E1B-A09F-512172A6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95630A6-E242-4232-95E3-983E1B32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57DE6E-0009-4CE9-9E9E-01684AAC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实验设计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F327F-18FF-4DDF-BC7E-C0DCE86E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评价聚焦可度量机制：九维覆盖、检索韧性和机制消融。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756F7-3E3C-4A4D-8383-4C06F305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5000"/>
            <a:ext cx="4533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87FE35-1F5D-4E9F-B8DA-CF352A93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955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87A6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0E87A6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615A2-0749-4BCC-BB17-931E4159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09550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12 个 YC 案例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6F0DD-1B69-408D-9CB7-E21B09AB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457450"/>
            <a:ext cx="354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Stripe、Airbnb、Replit、Notion、Coinbase 等，用公开材料构造 ground-truth BMC。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FAF9A-E972-487A-9EFA-3C6C1399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05000"/>
            <a:ext cx="4533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8566C9-2351-42D4-B8DC-88CAC0B0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955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D7D5B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4D7D5B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D6616-95C2-43DC-B072-DFD6ECB1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9550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0-27 分 rubric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389F8-892F-4303-BD2D-90D70279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57450"/>
            <a:ext cx="354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每个 BMC 维度 0-3 分，衡量 must-cover concept presence。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4D3F2B-ED03-41CA-9ECA-26D57A09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4533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71DEC0-25E4-4857-A2CA-EB0180FA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386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18B2D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C18B2D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D835D-6BB3-4FB3-9AAE-CE79EF6F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3860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两类后端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B9106C-A7D1-4011-804B-4979D8FA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00550"/>
            <a:ext cx="354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强模型 DeepSeek-V3 与中能力 MiniMax-M2.5，观察覆盖修复在不同能力层的作用。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EE7178-E208-49D8-AB45-C7A5D3E5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48100"/>
            <a:ext cx="4533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73911-FDA5-4814-8E24-E635699B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38600"/>
            <a:ext cx="514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25532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C25532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E2DDA3-8B75-433F-AC2F-524743C2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38600"/>
            <a:ext cx="3543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检索压力测试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D5C13-EBBE-47F0-A0FC-173B5402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00550"/>
            <a:ext cx="3543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健康 embedding 与强制 local-hash fallback 的 recall@5 对比。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4C43E3-AF05-4406-971B-4F014E96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E079F3-5B66-4826-8CA3-22A5293F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50197996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AE9E5B-ED32-4CF8-8C28-F97A199E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FC9510B-E193-40B7-AA94-77080C74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A4581BB-AA48-40C9-B840-BCD07A1C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检索结果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E348E3-8D2E-49DC-8FCC-3BAA1694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Embedding 降级时，混合检索保留了更多可用证据。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B8473-95B1-4484-A05D-CA5E63CE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6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5920A-A28F-44E4-9D45-9D60746D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2857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C25532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C25532"/>
                </a:solidFill>
                <a:latin typeface="Aptos Display"/>
                <a:ea typeface="Aptos Display"/>
                <a:cs typeface="Aptos Display"/>
              </a:rPr>
              <a:t>+28.4%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4B0A7-3F36-4D91-BA52-C09BF0E5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2819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AD2C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AD2C4"/>
                </a:solidFill>
                <a:latin typeface="PingFang SC"/>
                <a:ea typeface="PingFang SC"/>
                <a:cs typeface="PingFang SC"/>
              </a:rPr>
              <a:t>Recall@5 uplift under forced dense-channel degradation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89805-E378-4D4B-96E6-145D3E8E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83E62-1589-4E61-8B93-085AA3F2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17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健康状态下 dense channel 已饱和，Top-1 正确率达到 100%，混合检索没有显著空间增加质量。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BB92F-6FDB-4587-85EA-7E1A7E7E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72EA9C-AEE7-4856-8A7E-8C30C010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417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强制降级后，纯向量召回下降，词法通道保留中文/英文关键词命中。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814D13-E8D8-44E3-B6A2-B9134A60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0E6A4-ACE7-47B8-A32B-834201A6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4171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结论：混合检索主要是可靠性机制，不是常态质量提升技巧。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191F8-FA0C-45EB-96CD-EBA9C72D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441960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db92d67c04925"/>
          <a:stretch xmlns:a="http://schemas.openxmlformats.org/drawingml/2006/main"/>
        </p:blipFill>
        <p:spPr>
          <a:xfrm xmlns:a="http://schemas.openxmlformats.org/drawingml/2006/main">
            <a:off x="6115050" y="2332963"/>
            <a:ext cx="4191000" cy="1353873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6BAB9-9B73-465C-9B6D-5DC35F254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2432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Table 3-5：degraded embedding 条件下的 recall@5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9678A5-91FC-4060-8B42-1CF9D976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56A162-C394-4A88-8F5B-489B40BC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1595477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5DECC0-BA79-4EC7-AD21-5FF605C0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4CA311D-2CDF-47BB-B8DF-DB2F35A7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D49FC4B-A87B-4CA0-B06E-62D9B349E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质量对比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0F11D-AC4D-4A73-8F25-9840BCCE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覆盖检查在中能力模型上放大优势，在强模型上主要修复结构遗漏。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A0A6AC-1DA0-4AF6-8B1B-8A8C338E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DeepSeek-V3 单次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D715D-03D3-408E-A5CD-F64B0B6C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0398F-856B-47FA-B8A1-46A2C60D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279343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4358FA-F94E-43E5-94FF-5F1B3DED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097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20.2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CF566-BA7B-4D57-9040-9A27F037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DeepSeek-V3 Starlink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1DAD3-017C-4F14-AF49-D311BA4E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479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838B44-4A5C-4828-82E4-8DC598C7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47950"/>
            <a:ext cx="2876409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FF2FD6-C710-4D37-9CA8-24B7BBA5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6574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87A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0E87A6"/>
                </a:solidFill>
                <a:latin typeface="Aptos Mono"/>
                <a:ea typeface="Aptos Mono"/>
                <a:cs typeface="Aptos Mono"/>
              </a:rPr>
              <a:t>20.8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A68A3C-A97F-492F-855D-C9D0275D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MiniMax-M2.5 单次 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98C80B-29B4-47BD-BC55-CBF9804E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88726-2832-43F7-AD39-DDBF9AE0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95650"/>
            <a:ext cx="210199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66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82ABB-486B-48B2-88A3-04296A05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051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15.2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4F672-FAEC-4018-B9C9-E72BADE3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814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MiniMax-M2.5 Starlink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26E93-29CF-427E-8176-A86381C0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43350"/>
            <a:ext cx="373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E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40DC89-9150-4BBB-A7BC-FE248A16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43350"/>
            <a:ext cx="3042356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FBE6C-CC59-4C3C-8FB4-4847FB19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52875"/>
            <a:ext cx="66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25532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C25532"/>
                </a:solidFill>
                <a:latin typeface="Aptos Mono"/>
                <a:ea typeface="Aptos Mono"/>
                <a:cs typeface="Aptos Mono"/>
              </a:rPr>
              <a:t>22.0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64EF4-F923-4F87-B6C7-F548C02D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29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1CAF12-12CE-47EC-9DDB-08D4436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53000"/>
            <a:ext cx="674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强模型上均分只提升 +0.6，但 baseline 的 Key Partnerships 在 12/12 案例中为空。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E09087-406D-46D1-AD44-22DBA3C0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14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FDCCF-5987-4DA4-B2A0-F3F034BE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238750"/>
            <a:ext cx="674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中能力模型上均分提升 +6.8，并取得 8/12 case-wise wins。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44D64D-7C2B-47EB-A82A-9E55021E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00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4DEF2E-3A69-4096-AD5E-DB9FEF6F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24500"/>
            <a:ext cx="6743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解释：覆盖检查不是质量魔法，而是恢复低显著维度的结构保险。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650A53-05E8-47A3-8B6F-8F55AF9F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7622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c5eca6a754dc4"/>
          <a:stretch xmlns:a="http://schemas.openxmlformats.org/drawingml/2006/main"/>
        </p:blipFill>
        <p:spPr>
          <a:xfrm xmlns:a="http://schemas.openxmlformats.org/drawingml/2006/main">
            <a:off x="8534400" y="2328751"/>
            <a:ext cx="2533650" cy="695547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659F44-797D-4A16-87D3-4E85E189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57575"/>
            <a:ext cx="2533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Table 3-6 摘要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800C2E-C826-42D3-AD72-1285C38A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823F55-50C4-488D-B6CA-DB4EB914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6082861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F4FD48-9A0D-4B53-A0E3-9C99CE69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24C940A-1494-47EB-983D-8F60EF48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32DAD4C-B900-4F2D-A6E7-A7A522B1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机制消融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DA668-8DDE-4DA7-A2DF-D8EF643E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当前 rubric 下，检索 grounding 是最明确的可测驱动。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B8F542-3D0D-4D65-A874-582B945F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39118-7F3B-412A-B4FF-066033A7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移除 RAG 后，均值从 21.83 降到 21.17，worst-case 也下降。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41C6A-A622-470C-91D3-56F502B1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A4953-2D4E-4917-B0C3-2114BE57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622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单独移除 critic 或 debate 对 must-cover rubric 影响不明显。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DF23FC-C691-4B61-8832-205430F8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94433-53AE-4F87-856D-B24480A0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这不说明评审无用，而是当前 benchmark 没有直接测跨维冲突发现。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AE7F09-9670-4BDD-9BAE-38A1F257B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87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E7A29-05B2-432E-A0D3-FCB554EF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6710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161C24"/>
                </a:solidFill>
                <a:latin typeface="PingFang SC"/>
                <a:ea typeface="PingFang SC"/>
                <a:cs typeface="PingFang SC"/>
              </a:rPr>
              <a:t>下一步需要 conflict-injection benchmark 来评价 review loop。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FF1DB8-E2B1-49FF-882A-DC0D54A8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504950"/>
            <a:ext cx="56388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5CABC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8abd60423471d"/>
          <a:stretch xmlns:a="http://schemas.openxmlformats.org/drawingml/2006/main"/>
        </p:blipFill>
        <p:spPr>
          <a:xfrm xmlns:a="http://schemas.openxmlformats.org/drawingml/2006/main">
            <a:off x="5657850" y="2398701"/>
            <a:ext cx="5410200" cy="2232048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91EA3-89B0-406B-B40F-60FB267F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553075"/>
            <a:ext cx="541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图：五条件机制消融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FF108D-2F9E-4742-9746-3075C415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48A44-EE0E-4D36-BF6D-811A4D19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65124779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BB3460-253F-45D5-931E-7D6C0356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6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A8AF578-E4C9-4C48-9CE2-3EABE4CC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2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5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018C669-9DC4-4147-88A8-78DEE03B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DCCC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E6DCCC"/>
                </a:solidFill>
                <a:latin typeface="PingFang SC"/>
                <a:ea typeface="PingFang SC"/>
                <a:cs typeface="PingFang SC"/>
              </a:rPr>
              <a:t>结论与展望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3389F-4C35-4AEF-8485-2E663EB6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096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Starlink 证明了：生成式商业画布可以被做成可审计的系统工件。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0ADC87-9C70-476F-954A-E1D7BC94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724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0"/>
          </a:solidFill>
          <a:ln xmlns:a="http://schemas.openxmlformats.org/drawingml/2006/main" w="9525">
            <a:solidFill>
              <a:srgbClr val="2E37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130AF-42F6-4F46-927F-A337D285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52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87A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E87A6"/>
                </a:solidFill>
                <a:latin typeface="PingFang SC"/>
                <a:ea typeface="PingFang SC"/>
                <a:cs typeface="PingFang SC"/>
              </a:rPr>
              <a:t>系统结论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B46A1-99F7-4682-9766-A668E1EA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336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0D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9E0D0"/>
                </a:solidFill>
                <a:latin typeface="PingFang SC"/>
                <a:ea typeface="PingFang SC"/>
                <a:cs typeface="PingFang SC"/>
              </a:rPr>
              <a:t>十二个专门智能体、监督分派、共享黑板、混合检索和引用对象共同支撑渐进式 BMC 构建。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A617B2-60DE-43F4-851C-6710328AE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4724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D25"/>
          </a:solidFill>
          <a:ln xmlns:a="http://schemas.openxmlformats.org/drawingml/2006/main" w="9525">
            <a:solidFill>
              <a:srgbClr val="2E374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9B179-98B4-4216-B094-2388714D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526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D7D5B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D7D5B"/>
                </a:solidFill>
                <a:latin typeface="PingFang SC"/>
                <a:ea typeface="PingFang SC"/>
                <a:cs typeface="PingFang SC"/>
              </a:rPr>
              <a:t>实验结论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B339C-0636-4ABD-B792-50100D97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336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0D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9E0D0"/>
                </a:solidFill>
                <a:latin typeface="PingFang SC"/>
                <a:ea typeface="PingFang SC"/>
                <a:cs typeface="PingFang SC"/>
              </a:rPr>
              <a:t>覆盖检查稳定修复低显著维度；混合检索在 embedding 降级时保留更多证据。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25CD96-2A76-441A-A436-3809294A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8600"/>
            <a:ext cx="4724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D25"/>
          </a:solidFill>
          <a:ln xmlns:a="http://schemas.openxmlformats.org/drawingml/2006/main" w="9525">
            <a:solidFill>
              <a:srgbClr val="2E37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BF118-BAB0-4737-9096-36D10CA3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48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18B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18B2D"/>
                </a:solidFill>
                <a:latin typeface="PingFang SC"/>
                <a:ea typeface="PingFang SC"/>
                <a:cs typeface="PingFang SC"/>
              </a:rPr>
              <a:t>主要局限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74135F-8080-42A3-8208-4C1DDB5D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0D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9E0D0"/>
                </a:solidFill>
                <a:latin typeface="PingFang SC"/>
                <a:ea typeface="PingFang SC"/>
                <a:cs typeface="PingFang SC"/>
              </a:rPr>
              <a:t>样本主要来自软件/SaaS/金融科技；单一 judge；用户研究规模小；流式粒度仍是 section-level。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AE6C7-CD81-4030-AD9A-B3932C76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38600"/>
            <a:ext cx="4724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D25"/>
          </a:solidFill>
          <a:ln xmlns:a="http://schemas.openxmlformats.org/drawingml/2006/main" w="9525">
            <a:solidFill>
              <a:srgbClr val="C255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63A238-5D70-4E8D-8F06-9123091D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2553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25532"/>
                </a:solidFill>
                <a:latin typeface="PingFang SC"/>
                <a:ea typeface="PingFang SC"/>
                <a:cs typeface="PingFang SC"/>
              </a:rPr>
              <a:t>后续工作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3C60D-5323-4EFA-94A2-1CA1A1462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29150"/>
            <a:ext cx="4095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9E0D0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E9E0D0"/>
                </a:solidFill>
                <a:latin typeface="PingFang SC"/>
                <a:ea typeface="PingFang SC"/>
                <a:cs typeface="PingFang SC"/>
              </a:rPr>
              <a:t>partial jitter、冲突注入、跨模型族复现、多语种检索、在线 agent 重配置和偏好蒸馏。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6BC66-2F37-4484-B2E2-772CDA22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7912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100" b="1">
                <a:solidFill>
                  <a:srgbClr val="C25532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C25532"/>
                </a:solidFill>
                <a:latin typeface="Aptos Display"/>
                <a:ea typeface="Aptos Display"/>
                <a:cs typeface="Aptos Display"/>
              </a:rPr>
              <a:t>Q&amp;A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CFCA80-BF4E-4361-88AF-DD3B293B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E6673"/>
                </a:solidFill>
                <a:latin typeface="PingFang SC"/>
                <a:ea typeface="PingFang SC"/>
                <a:cs typeface="PingFang SC"/>
              </a:rPr>
              <a:t>Starlink · Generative Business Canvas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3C17B-A00F-49A1-8BE4-246748E7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5E6673"/>
                </a:solidFill>
                <a:latin typeface="Aptos Mono"/>
                <a:ea typeface="Aptos Mono"/>
                <a:cs typeface="Aptos Mono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582980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2026-05-26T06:55:03.3400000Z</dcterms:created>
  <dcterms:modified xsi:type="dcterms:W3CDTF">2026-05-26T06:55:03.3400000Z</dcterms:modified>
</coreProperties>
</file>